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1" r:id="rId1"/>
  </p:sldMasterIdLst>
  <p:notesMasterIdLst>
    <p:notesMasterId r:id="rId2"/>
  </p:notesMasterIdLst>
  <p:handoutMasterIdLst>
    <p:handoutMasterId r:id="rId3"/>
  </p:handout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</p:sldIdLst>
  <p:sldSz cx="9372600" cy="829786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1pPr>
    <a:lvl2pPr marL="4572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2pPr>
    <a:lvl3pPr marL="9144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3pPr>
    <a:lvl4pPr marL="13716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4pPr>
    <a:lvl5pPr marL="18288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5pPr>
    <a:lvl6pPr marL="22860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6pPr>
    <a:lvl7pPr marL="27432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7pPr>
    <a:lvl8pPr marL="32004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8pPr>
    <a:lvl9pPr marL="36576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9pPr>
  </p:defaultTextStyle>
  <p:extLst>
    <p:ext uri="{EFAFB233-063F-42B5-8137-9DF3F51BA10A}">
      <p15:sldGuideLst xmlns:p15="http://schemas.microsoft.com/office/powerpoint/2012/main">
        <p15:guide id="1" orient="horz" pos="2614" userDrawn="1">
          <p15:clr>
            <a:srgbClr val="A4A3A4"/>
          </p15:clr>
        </p15:guide>
        <p15:guide id="2" pos="295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8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y Conlee" initials="MC" lastIdx="1" clrIdx="0"/>
  <p:cmAuthor id="2" name="Mark Kerzner" initials="MK" lastIdx="6" clrIdx="1"/>
  <p:cmAuthor id="3" name="Mary Beth Conlee" initials="MBC" lastIdx="7" clrIdx="2"/>
  <p:cmAuthor id="4" name="Michelle" initials="M" lastIdx="5" clrIdx="3"/>
  <p:cmAuthor id="5" name="Tricia Murphy" initials="TM" lastIdx="4" clrIdx="4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1A1A"/>
    <a:srgbClr val="D6B8EB"/>
    <a:srgbClr val="A77EC7"/>
    <a:srgbClr val="B59BC7"/>
    <a:srgbClr val="C7AAD9"/>
    <a:srgbClr val="C89EDF"/>
    <a:srgbClr val="BD83DF"/>
    <a:srgbClr val="CB89DF"/>
    <a:srgbClr val="CA87D1"/>
    <a:srgbClr val="CF86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969" autoAdjust="0"/>
    <p:restoredTop sz="86012" autoAdjust="0"/>
  </p:normalViewPr>
  <p:slideViewPr>
    <p:cSldViewPr>
      <p:cViewPr varScale="1">
        <p:scale>
          <a:sx n="82" d="100"/>
          <a:sy n="82" d="100"/>
        </p:scale>
        <p:origin x="2920" y="176"/>
      </p:cViewPr>
      <p:guideLst>
        <p:guide orient="horz" pos="2614"/>
        <p:guide pos="295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5" d="100"/>
        <a:sy n="85" d="100"/>
      </p:scale>
      <p:origin x="0" y="0"/>
    </p:cViewPr>
  </p:sorterViewPr>
  <p:notesViewPr>
    <p:cSldViewPr>
      <p:cViewPr>
        <p:scale>
          <a:sx n="80" d="100"/>
          <a:sy n="80" d="100"/>
        </p:scale>
        <p:origin x="3296" y="-56"/>
      </p:cViewPr>
      <p:guideLst>
        <p:guide orient="horz" pos="3024"/>
        <p:guide pos="2308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handoutMaster" Target="handoutMasters/handoutMaster1.xml"/><Relationship Id="rId4" Type="http://schemas.openxmlformats.org/officeDocument/2006/relationships/commentAuthors" Target="commentAuthors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3" Type="http://schemas.openxmlformats.org/officeDocument/2006/relationships/slide" Target="slides/slide35.xml"/><Relationship Id="rId44" Type="http://schemas.openxmlformats.org/officeDocument/2006/relationships/slide" Target="slides/slide36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3363"/>
            <a:ext cx="3170238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3363"/>
            <a:ext cx="3170237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algn="r"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97E62689-8C7D-4291-A094-4E689FEC4C3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29152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68375" y="473075"/>
            <a:ext cx="5365750" cy="4751388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8280" name="Rectangle 8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365250" y="9388475"/>
            <a:ext cx="4578350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1" compatLnSpc="1">
            <a:prstTxWarp prst="textNoShape">
              <a:avLst/>
            </a:prstTxWarp>
          </a:bodyPr>
          <a:lstStyle>
            <a:lvl1pPr algn="ctr" defTabSz="965200" eaLnBrk="0" hangingPunct="0">
              <a:defRPr sz="900">
                <a:latin typeface="Arial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438281" name="Rectangle 9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6400800" y="9388475"/>
            <a:ext cx="554038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b="1">
                <a:latin typeface="Arial" charset="0"/>
              </a:defRPr>
            </a:lvl1pPr>
          </a:lstStyle>
          <a:p>
            <a:pPr>
              <a:defRPr/>
            </a:pPr>
            <a:fld id="{EFAADD5D-AF76-45EE-AA5F-6DAC73BF167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38306" name="Text Box 34"/>
          <p:cNvSpPr txBox="1">
            <a:spLocks noChangeArrowheads="1"/>
          </p:cNvSpPr>
          <p:nvPr/>
        </p:nvSpPr>
        <p:spPr bwMode="auto">
          <a:xfrm>
            <a:off x="271463" y="5176838"/>
            <a:ext cx="617537" cy="25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6386" tIns="48194" rIns="96386" bIns="48194"/>
          <a:lstStyle/>
          <a:p>
            <a:pPr defTabSz="960438">
              <a:defRPr/>
            </a:pPr>
            <a:r>
              <a:rPr lang="en-US" sz="1200" b="1" u="sng" dirty="0">
                <a:latin typeface="Times New Roman" pitchFamily="18" charset="0"/>
                <a:cs typeface="Times New Roman" pitchFamily="18" charset="0"/>
              </a:rPr>
              <a:t>Notes:</a:t>
            </a:r>
          </a:p>
        </p:txBody>
      </p:sp>
      <p:sp>
        <p:nvSpPr>
          <p:cNvPr id="438309" name="Rectangle 37"/>
          <p:cNvSpPr>
            <a:spLocks noGrp="1" noChangeArrowheads="1"/>
          </p:cNvSpPr>
          <p:nvPr>
            <p:ph type="body" sz="quarter" idx="3"/>
          </p:nvPr>
        </p:nvSpPr>
        <p:spPr bwMode="gray">
          <a:xfrm>
            <a:off x="322263" y="5462588"/>
            <a:ext cx="6607175" cy="3751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37" tIns="45768" rIns="91537" bIns="45768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noProof="0" dirty="0"/>
          </a:p>
        </p:txBody>
      </p:sp>
      <p:sp>
        <p:nvSpPr>
          <p:cNvPr id="438317" name="Line 45"/>
          <p:cNvSpPr>
            <a:spLocks noChangeShapeType="1"/>
          </p:cNvSpPr>
          <p:nvPr/>
        </p:nvSpPr>
        <p:spPr bwMode="auto">
          <a:xfrm>
            <a:off x="322263" y="9324975"/>
            <a:ext cx="6653212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30000"/>
              </a:spcBef>
              <a:defRPr/>
            </a:pPr>
            <a:endParaRPr lang="en-US" dirty="0">
              <a:latin typeface="Garamond" pitchFamily="-11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3744030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indent="0" algn="l" rtl="0" eaLnBrk="0" fontAlgn="base" hangingPunct="0">
      <a:spcBef>
        <a:spcPct val="30000"/>
      </a:spcBef>
      <a:spcAft>
        <a:spcPct val="0"/>
      </a:spcAft>
      <a:buSzPct val="65000"/>
      <a:buFont typeface="Wingdings" pitchFamily="2" charset="2"/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 pitchFamily="-110" charset="-128"/>
      </a:defRPr>
    </a:lvl1pPr>
    <a:lvl2pPr marL="282575" indent="0" algn="l" rtl="0" eaLnBrk="0" fontAlgn="base" hangingPunct="0">
      <a:spcBef>
        <a:spcPct val="30000"/>
      </a:spcBef>
      <a:spcAft>
        <a:spcPct val="0"/>
      </a:spcAft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2pPr>
    <a:lvl3pPr marL="744538" indent="-173038" algn="l" rtl="0" eaLnBrk="0" fontAlgn="base" hangingPunct="0">
      <a:spcBef>
        <a:spcPct val="30000"/>
      </a:spcBef>
      <a:spcAft>
        <a:spcPct val="0"/>
      </a:spcAft>
      <a:buChar char="•"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idx="5" sz="quarter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Image credit: https://superuser.com/questions/874393/what-protocol-is-used-to-transfer-a-message-in-a-http-application</a:t>
            </a:r>
            <a:r>
              <a:t> Licensed for free use and sharing with attribution and without modification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idx="5" sz="quarter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Image Credit: https://nicolaswindpassinger.com/osi-reference-model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idx="5" sz="quarter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Image Credit: https://nicolaswindpassinger.com/osi-reference-model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idx="5" sz="quarter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Ref: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idx="5" sz="quarter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Ref: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idx="5" sz="quarter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Ref: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idx="5" sz="quarter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Ref: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idx="5" sz="quarter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Ref: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idx="5" sz="quarter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Ref: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idx="5" sz="quarter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Ref: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idx="5" sz="quarter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Several attacks have been documented where an individual used the same password for an administration account as they did for a social media account.  The credentials were hacked from the social media account and then used to access the corporate network.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idx="5" sz="quarter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Several attacks have been documented where an individual used the same password for an administration account as they did for a social media account.  The credentials were hacked from the social media account and then used to access the corporate network.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idx="5" sz="quarter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Taken from https://www.helpnetsecurity.com/2021/09/14/osi-layer-1/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idx="5" sz="quarter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Taken from https://www.helpnetsecurity.com/2021/09/14/osi-layer-1/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/>
          <p:cNvPicPr preferRelativeResize="0">
            <a:picLocks noChangeArrowheads="1"/>
          </p:cNvPicPr>
          <p:nvPr/>
        </p:nvPicPr>
        <p:blipFill rotWithShape="1">
          <a:blip r:embed="rId2"/>
          <a:srcRect t="19473"/>
          <a:stretch/>
        </p:blipFill>
        <p:spPr bwMode="auto">
          <a:xfrm>
            <a:off x="1" y="-1801"/>
            <a:ext cx="2498725" cy="83089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04898" name="Rectangle 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498726" y="4984481"/>
            <a:ext cx="6335713" cy="400685"/>
          </a:xfrm>
        </p:spPr>
        <p:txBody>
          <a:bodyPr>
            <a:spAutoFit/>
          </a:bodyPr>
          <a:lstStyle>
            <a:lvl1pPr marL="0" indent="0" algn="r">
              <a:buFont typeface="Monotype Sorts" pitchFamily="-110" charset="2"/>
              <a:buNone/>
              <a:defRPr sz="20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04900" name="Rectangle 4"/>
          <p:cNvSpPr>
            <a:spLocks noGrp="1" noChangeArrowheads="1"/>
          </p:cNvSpPr>
          <p:nvPr>
            <p:ph type="ctrTitle" sz="quarter"/>
          </p:nvPr>
        </p:nvSpPr>
        <p:spPr>
          <a:xfrm>
            <a:off x="704850" y="3226947"/>
            <a:ext cx="8121650" cy="1469414"/>
          </a:xfrm>
        </p:spPr>
        <p:txBody>
          <a:bodyPr lIns="91440" anchor="ctr"/>
          <a:lstStyle>
            <a:lvl1pPr algn="ctr" defTabSz="1825625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7EF9825-4C23-4085-A4E3-B5565466BD9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762500" y="994975"/>
            <a:ext cx="4375150" cy="33210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762500" y="4500439"/>
            <a:ext cx="4375150" cy="33229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0E4B02-67B9-4228-B08B-2561CEE6B94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250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6CC632-9864-46F1-8EAB-FCD3BB9CEC9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Relationship Id="rId6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4950" y="994976"/>
            <a:ext cx="8902700" cy="682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03876" name="Rectangle 4"/>
          <p:cNvSpPr>
            <a:spLocks noGrp="1" noChangeArrowheads="1"/>
          </p:cNvSpPr>
          <p:nvPr>
            <p:ph type="sldNum" sz="quarter" idx="4"/>
          </p:nvPr>
        </p:nvSpPr>
        <p:spPr bwMode="hidden">
          <a:xfrm>
            <a:off x="8777288" y="7961724"/>
            <a:ext cx="546100" cy="2727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b="1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fld id="{77EF9825-4C23-4085-A4E3-B5565466BD9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103877" name="Rectangle 5"/>
          <p:cNvSpPr>
            <a:spLocks noGrp="1" noChangeArrowheads="1"/>
          </p:cNvSpPr>
          <p:nvPr>
            <p:ph type="ftr" sz="quarter" idx="3"/>
          </p:nvPr>
        </p:nvSpPr>
        <p:spPr bwMode="hidden">
          <a:xfrm>
            <a:off x="234950" y="8032785"/>
            <a:ext cx="5441950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ctr" eaLnBrk="0" hangingPunct="0">
              <a:spcBef>
                <a:spcPct val="0"/>
              </a:spcBef>
              <a:defRPr sz="9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pic>
        <p:nvPicPr>
          <p:cNvPr id="1030" name="Picture 6"/>
          <p:cNvPicPr preferRelativeResize="0">
            <a:picLocks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ltGray">
          <a:xfrm>
            <a:off x="0" y="1"/>
            <a:ext cx="704850" cy="8355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1" name="Rectangle 7"/>
          <p:cNvSpPr>
            <a:spLocks noGrp="1" noChangeArrowheads="1"/>
          </p:cNvSpPr>
          <p:nvPr>
            <p:ph type="title"/>
          </p:nvPr>
        </p:nvSpPr>
        <p:spPr bwMode="invGray">
          <a:xfrm>
            <a:off x="704850" y="1"/>
            <a:ext cx="8667750" cy="835549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6" r:id="rId1"/>
    <p:sldLayoutId id="2147483655" r:id="rId2"/>
    <p:sldLayoutId id="2147483654" r:id="rId3"/>
    <p:sldLayoutId id="2147483653" r:id="rId4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+mj-lt"/>
          <a:ea typeface="ＭＳ Ｐゴシック" pitchFamily="-110" charset="-128"/>
          <a:cs typeface="ＭＳ Ｐゴシック" pitchFamily="-110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9pPr>
    </p:titleStyle>
    <p:bodyStyle>
      <a:lvl1pPr marL="290513" indent="-290513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5000"/>
        <a:buFont typeface="Wingdings" pitchFamily="2" charset="2"/>
        <a:buChar char=""/>
        <a:defRPr sz="2400">
          <a:solidFill>
            <a:srgbClr val="000000"/>
          </a:solidFill>
          <a:latin typeface="+mn-lt"/>
          <a:ea typeface="ＭＳ Ｐゴシック" pitchFamily="-110" charset="-128"/>
          <a:cs typeface="ＭＳ Ｐゴシック" pitchFamily="-110" charset="-128"/>
        </a:defRPr>
      </a:lvl1pPr>
      <a:lvl2pPr marL="633413" indent="-228600" algn="l" rtl="0" eaLnBrk="0" fontAlgn="base" hangingPunct="0">
        <a:spcBef>
          <a:spcPct val="20000"/>
        </a:spcBef>
        <a:spcAft>
          <a:spcPct val="0"/>
        </a:spcAft>
        <a:buClr>
          <a:srgbClr val="000000"/>
        </a:buClr>
        <a:buChar char="–"/>
        <a:defRPr sz="22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2pPr>
      <a:lvl3pPr marL="969963" indent="-22225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3pPr>
      <a:lvl4pPr marL="1258888" indent="-228600" algn="l" rtl="0" eaLnBrk="0" fontAlgn="base" hangingPunct="0">
        <a:spcBef>
          <a:spcPct val="0"/>
        </a:spcBef>
        <a:spcAft>
          <a:spcPct val="0"/>
        </a:spcAft>
        <a:buClr>
          <a:srgbClr val="5F5F5F"/>
        </a:buClr>
        <a:buSzPct val="65000"/>
        <a:buFont typeface="Arial Bold" pitchFamily="34" charset="0"/>
        <a:buChar char="‒"/>
        <a:defRPr lang="en-US" dirty="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4pPr>
      <a:lvl5pPr marL="20558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  <a:cs typeface="ＭＳ Ｐゴシック"/>
        </a:defRPr>
      </a:lvl5pPr>
      <a:lvl6pPr marL="25130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6pPr>
      <a:lvl7pPr marL="29702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7pPr>
      <a:lvl8pPr marL="34274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8pPr>
      <a:lvl9pPr marL="38846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 sz="quarter"/>
          </p:nvPr>
        </p:nvSpPr>
        <p:spPr/>
        <p:txBody>
          <a:bodyPr/>
          <a:lstStyle/>
          <a:p>
            <a:pPr>
              <a:defRPr sz="3200"/>
            </a:pPr>
            <a:r>
              <a:t>The OSI Layers</a:t>
            </a:r>
          </a:p>
          <a:p>
            <a:r>
              <a:t>Common Attacks by Layer</a:t>
            </a:r>
          </a:p>
          <a:p>
            <a:r>
              <a:t>Defense in Depth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 sz="quarter"/>
          </p:nvPr>
        </p:nvSpPr>
        <p:spPr/>
        <p:txBody>
          <a:bodyPr/>
          <a:lstStyle/>
          <a:p>
            <a:r>
              <a:t>OSI Security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 sz="quarter"/>
          </p:nvPr>
        </p:nvSpPr>
        <p:spPr/>
        <p:txBody>
          <a:bodyPr/>
          <a:lstStyle/>
          <a:p>
            <a:pPr>
              <a:defRPr sz="3200"/>
            </a:pPr>
            <a:r>
              <a:rPr b="1"/>
              <a:t>The OSI Layers
</a:t>
            </a:r>
            <a:r>
              <a:t>Common Attacks by Layer
</a:t>
            </a:r>
            <a:r>
              <a:t>Defense in Depth
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 sz="quarter"/>
          </p:nvPr>
        </p:nvSpPr>
        <p:spPr/>
        <p:txBody>
          <a:bodyPr/>
          <a:lstStyle/>
          <a:p>
            <a:r>
              <a:t>The OSI Layers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OSI Layers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Open System Interconnection or OSI layers</a:t>
            </a:r>
          </a:p>
          <a:p>
            <a:r>
              <a:t> Reference model for how information from software in one device moves to an application on another computer</a:t>
            </a:r>
          </a:p>
          <a:p/>
          <a:p/>
          <a:p/>
          <a:p/>
          <a:p/>
          <a:p/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  <p:pic>
        <p:nvPicPr>
          <p:cNvPr id="5" name="Picture 4" descr="OSILay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0472" y="2688336"/>
            <a:ext cx="6391656" cy="490118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OSI Layers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Maps to various implementations</a:t>
            </a:r>
          </a:p>
          <a:p>
            <a:r>
              <a:t> TCP/IP architecture for example</a:t>
            </a:r>
          </a:p>
          <a:p/>
          <a:p/>
          <a:p/>
          <a:p/>
          <a:p/>
          <a:p/>
          <a:p/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  <p:pic>
        <p:nvPicPr>
          <p:cNvPr id="5" name="Picture 4" descr="The-OSI-model-and-TCP-IP-model-compar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064" y="2441448"/>
            <a:ext cx="6071616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OSI and IoT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OSI maps to different protocols and standards for web and IoT worlds</a:t>
            </a:r>
          </a:p>
          <a:p/>
          <a:p/>
          <a:p/>
          <a:p/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  <p:pic>
        <p:nvPicPr>
          <p:cNvPr id="5" name="Picture 4" descr="IoT-stack-and-web-stack-in-the-TCP-ip-view-640x39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2066543"/>
            <a:ext cx="7662672" cy="476402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Ins="3511296"/>
          <a:lstStyle/>
          <a:p/>
          <a:p>
            <a:r>
              <a:t> Represents processes on the level of applications and users, IoT and otherwise</a:t>
            </a:r>
          </a:p>
          <a:p>
            <a:r>
              <a:t> Links the business application access to network services</a:t>
            </a:r>
          </a:p>
          <a:p>
            <a:r>
              <a:t> Messaging protocols found at this layer CoAP, MQTT, XMPP, AMPQP and HTTP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  <p:pic>
        <p:nvPicPr>
          <p:cNvPr id="5" name="Picture 4" descr="Application-Lay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8192" y="1234440"/>
            <a:ext cx="2944368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Presentation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Ins="3511296"/>
          <a:lstStyle/>
          <a:p/>
          <a:p>
            <a:r>
              <a:t> Formats and encrypts data for communication.</a:t>
            </a:r>
          </a:p>
          <a:p>
            <a:r>
              <a:t> Resolves compatibility issues in the communication between the application and the network.</a:t>
            </a:r>
          </a:p>
          <a:p>
            <a:r>
              <a:t> For example, TLS class of cryptographic protocols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  <p:pic>
        <p:nvPicPr>
          <p:cNvPr id="5" name="Picture 4" descr="Presentation-Lay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8192" y="1234440"/>
            <a:ext cx="2944368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Ins="3511296"/>
          <a:lstStyle/>
          <a:p/>
          <a:p>
            <a:r>
              <a:t> Connections between local and remote applications are initiated, managed and terminated here</a:t>
            </a:r>
          </a:p>
          <a:p>
            <a:r>
              <a:t> Manages sessions over multiple devices on the same network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  <p:pic>
        <p:nvPicPr>
          <p:cNvPr id="5" name="Picture 4" descr="Session-Lay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8192" y="1234440"/>
            <a:ext cx="2944368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Transport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Ins="3511296"/>
          <a:lstStyle/>
          <a:p/>
          <a:p>
            <a:r>
              <a:t> Manages the host-to-host data transmission</a:t>
            </a:r>
          </a:p>
          <a:p>
            <a:r>
              <a:t> Ensures that data transfers between hosts are completed.</a:t>
            </a:r>
          </a:p>
          <a:p>
            <a:r>
              <a:t> Manages error recovery and retransmission of lost data.</a:t>
            </a:r>
          </a:p>
          <a:p>
            <a:r>
              <a:t> TCP and UDP are two common protocols in this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  <p:pic>
        <p:nvPicPr>
          <p:cNvPr id="5" name="Picture 4" descr="Transport-Lay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8192" y="1234440"/>
            <a:ext cx="2944368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Network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Ins="3511296"/>
          <a:lstStyle/>
          <a:p/>
          <a:p>
            <a:r>
              <a:t> Responsible for routing and transferring data packets between different nodes across various networks</a:t>
            </a:r>
          </a:p>
          <a:p>
            <a:r>
              <a:t> Includes the IP the Internet Protocol part of TCP/IP</a:t>
            </a:r>
          </a:p>
          <a:p>
            <a:r>
              <a:t> Of concern to IoT is that it also includes IPv4 and IPv6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  <p:pic>
        <p:nvPicPr>
          <p:cNvPr id="5" name="Picture 4" descr="Network-Lay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8192" y="1234440"/>
            <a:ext cx="2944368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Link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Ins="3511296"/>
          <a:lstStyle/>
          <a:p/>
          <a:p>
            <a:r>
              <a:t> Later where data transfer between two directly connected nodes in a network takes place</a:t>
            </a:r>
          </a:p>
          <a:p>
            <a:r>
              <a:t> Divided into two sub layers:</a:t>
            </a:r>
          </a:p>
          <a:p>
            <a:pPr lvl="1"/>
            <a:r>
              <a:t> Medium access control layer (MAC layer)</a:t>
            </a:r>
          </a:p>
          <a:p>
            <a:pPr lvl="1"/>
            <a:r>
              <a:t> Logical link control layer (LLC).</a:t>
            </a:r>
          </a:p>
          <a:p>
            <a:r>
              <a:t> Various IEEE 802 standards apply to this layer</a:t>
            </a:r>
          </a:p>
          <a:p>
            <a:pPr lvl="1"/>
            <a:r>
              <a:t> IEEE 802.15.4 or low rate Wireless PAN for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  <p:pic>
        <p:nvPicPr>
          <p:cNvPr id="5" name="Picture 4" descr="Data-Link-Lay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8192" y="1234440"/>
            <a:ext cx="2944368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Physical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Ins="3511296"/>
          <a:lstStyle/>
          <a:p/>
          <a:p>
            <a:r>
              <a:t> Layer where networks are organized</a:t>
            </a:r>
          </a:p>
          <a:p>
            <a:r>
              <a:t> Foundation of IoT and its connected</a:t>
            </a:r>
          </a:p>
          <a:p>
            <a:r>
              <a:t> Includes the essential physical structure needed to make the IoT possible</a:t>
            </a:r>
          </a:p>
          <a:p>
            <a:pPr lvl="1"/>
            <a:r>
              <a:t> E.g., cables and radio frequency links</a:t>
            </a:r>
          </a:p>
          <a:p>
            <a:pPr lvl="1"/>
            <a:r>
              <a:t> Essential transmission specifications, communication protocols and hardware on a device and data level.=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  <p:pic>
        <p:nvPicPr>
          <p:cNvPr id="5" name="Picture 4" descr="Physical-Lay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8192" y="1234440"/>
            <a:ext cx="2944368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OST Intuitive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Using OSI to figure out why an application isn't working</a:t>
            </a:r>
          </a:p>
          <a:p>
            <a:pPr lvl="1"/>
            <a:r>
              <a:t> Layer 1: Physical</a:t>
            </a:r>
          </a:p>
          <a:p>
            <a:pPr lvl="2"/>
            <a:r>
              <a:t> Is the network cable plugged in?</a:t>
            </a:r>
          </a:p>
          <a:p>
            <a:pPr lvl="1"/>
            <a:r>
              <a:t> Layer 2: Data Link</a:t>
            </a:r>
          </a:p>
          <a:p>
            <a:pPr lvl="2"/>
            <a:r>
              <a:t> Do you have a link light?</a:t>
            </a:r>
          </a:p>
          <a:p>
            <a:pPr lvl="1"/>
            <a:r>
              <a:t> Layer 3: Network</a:t>
            </a:r>
          </a:p>
          <a:p>
            <a:pPr lvl="2"/>
            <a:r>
              <a:t> Are you getting an IP?</a:t>
            </a:r>
          </a:p>
          <a:p>
            <a:pPr lvl="1"/>
            <a:r>
              <a:t> Layer 4: Transport</a:t>
            </a:r>
          </a:p>
          <a:p>
            <a:pPr lvl="2"/>
            <a:r>
              <a:t> Can you connect to your default gateway?</a:t>
            </a:r>
          </a:p>
          <a:p>
            <a:pPr lvl="1"/>
            <a:r>
              <a:t> Layer 5: Session</a:t>
            </a:r>
          </a:p>
          <a:p>
            <a:pPr lvl="2"/>
            <a:r>
              <a:t> Do you have DNS server information?</a:t>
            </a:r>
          </a:p>
          <a:p>
            <a:pPr lvl="2"/>
            <a:r>
              <a:t> Can you ping 4.2.2.2 but not google.com?</a:t>
            </a:r>
          </a:p>
          <a:p>
            <a:pPr lvl="1"/>
            <a:r>
              <a:t> Layers 6&amp;7: Presentation &amp; Application</a:t>
            </a:r>
          </a:p>
          <a:p>
            <a:pPr lvl="2"/>
            <a:r>
              <a:t> Can you browse to a site?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 sz="quarter"/>
          </p:nvPr>
        </p:nvSpPr>
        <p:spPr/>
        <p:txBody>
          <a:bodyPr/>
          <a:lstStyle/>
          <a:p>
            <a:pPr>
              <a:defRPr sz="3200"/>
            </a:pPr>
            <a:r>
              <a:t>The OSI Layers
</a:t>
            </a:r>
            <a:r>
              <a:rPr b="1"/>
              <a:t>Common Attacks by Layer
</a:t>
            </a:r>
            <a:r>
              <a:t>Defense in Depth
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 sz="quarter"/>
          </p:nvPr>
        </p:nvSpPr>
        <p:spPr/>
        <p:txBody>
          <a:bodyPr/>
          <a:lstStyle/>
          <a:p>
            <a:r>
              <a:t>Common Attacks by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Examples of Attacks at Each Level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37744" y="914400"/>
          <a:ext cx="89154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800"/>
                <a:gridCol w="2971800"/>
                <a:gridCol w="2971800"/>
              </a:tblGrid>
              <a:tr h="457200">
                <a:tc>
                  <a:txBody>
                    <a:bodyPr/>
                    <a:lstStyle/>
                    <a:p>
                      <a:r>
                        <a:t>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Attack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Application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Social Engineering, UserID/Password sniffing. Lack of role-based security for admin and support. Spoofing authentication credentials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Presentation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Phishing, TLS/SSL sniffing Breaking weak or faulty encryption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Hacking – Telnet and FTP hacking Access to unsecured applications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Transport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TCP Sessions sniffing Port sniffing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Network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Man in the Middle Attacks Port sniffing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Data Link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Spoofing MAC/ARP sniffing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Physical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Sniffing, physical device compromise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 Level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Refers to the applications that support the end user functions</a:t>
            </a:r>
          </a:p>
          <a:p>
            <a:pPr lvl="1"/>
            <a:r>
              <a:t> Applications at this layer include FTP, SMTP and other services</a:t>
            </a:r>
          </a:p>
          <a:p>
            <a:pPr lvl="1"/>
            <a:r>
              <a:t> Supports user applications with that authentication and authorization</a:t>
            </a:r>
          </a:p>
          <a:p>
            <a:r>
              <a:t> Main security challenge for IIoT is unauthorized access to control systems</a:t>
            </a:r>
          </a:p>
          <a:p>
            <a:pPr lvl="1"/>
            <a:r>
              <a:t> Entry point to introduce additional vectors – e.g, creating backdoors for future attacks</a:t>
            </a:r>
          </a:p>
          <a:p>
            <a:pPr lvl="1"/>
            <a:r>
              <a:t> Common attack vector using social engineering, phishing and other deceptive exploits</a:t>
            </a:r>
          </a:p>
          <a:p>
            <a:r>
              <a:t> First line of defense is strong organizational procedures and policies on issuing, revoking and changing authentication credentials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 Level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UserID/Password is common authentication</a:t>
            </a:r>
          </a:p>
          <a:p>
            <a:pPr lvl="1"/>
            <a:r>
              <a:t> Often implemented with weak account policy</a:t>
            </a:r>
          </a:p>
          <a:p>
            <a:pPr lvl="1"/>
            <a:r>
              <a:t> Users suffer from password fatigue</a:t>
            </a:r>
          </a:p>
          <a:p>
            <a:pPr lvl="2"/>
            <a:r>
              <a:t> Tend to use the same password across accounts</a:t>
            </a:r>
          </a:p>
          <a:p>
            <a:pPr lvl="2"/>
            <a:r>
              <a:t> Tend to use short easy to guess passwords</a:t>
            </a:r>
          </a:p>
          <a:p>
            <a:pPr lvl="2"/>
            <a:r>
              <a:t> Tend to not change their passwords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 Level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Mitigations</a:t>
            </a:r>
          </a:p>
          <a:p>
            <a:pPr lvl="1"/>
            <a:r>
              <a:t> Password policy requiring strong passwords and regular rotations</a:t>
            </a:r>
          </a:p>
          <a:p>
            <a:pPr lvl="1"/>
            <a:r>
              <a:t> Use generated tokens instead of passwords</a:t>
            </a:r>
          </a:p>
          <a:p>
            <a:pPr lvl="2"/>
            <a:r>
              <a:t> These have higher entropy and are harder to crack</a:t>
            </a:r>
          </a:p>
          <a:p>
            <a:pPr lvl="2"/>
            <a:r>
              <a:t> Eliminates the problem of password reuse</a:t>
            </a:r>
          </a:p>
          <a:p>
            <a:pPr lvl="1"/>
            <a:r>
              <a:t> MFA – multi-factor authentication</a:t>
            </a:r>
          </a:p>
          <a:p>
            <a:pPr lvl="2"/>
            <a:r>
              <a:t> Requires authentication from two of three possible sources</a:t>
            </a:r>
          </a:p>
          <a:p>
            <a:pPr lvl="3"/>
            <a:r>
              <a:t> What the user knows – password or token</a:t>
            </a:r>
          </a:p>
          <a:p>
            <a:pPr lvl="3"/>
            <a:r>
              <a:t> Where the user is – specific IP address</a:t>
            </a:r>
          </a:p>
          <a:p>
            <a:pPr lvl="3"/>
            <a:r>
              <a:t> Something the user has – mobile phone for a confirmation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Presentation Level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Encryption is performed at this layer</a:t>
            </a:r>
          </a:p>
          <a:p>
            <a:r>
              <a:t> Common attacks often involve weak or missing encryption</a:t>
            </a:r>
          </a:p>
          <a:p>
            <a:pPr lvl="1"/>
            <a:r>
              <a:t> There must be both encryption for data in transit and encryption for data at rest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Presentation Level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Exploitable weaknesses can occur when:</a:t>
            </a:r>
          </a:p>
          <a:p>
            <a:pPr lvl="1"/>
            <a:r>
              <a:t> An encryption standard is used that is too weak, one that has known weaknesses for example</a:t>
            </a:r>
          </a:p>
          <a:p>
            <a:pPr lvl="1"/>
            <a:r>
              <a:t> Flawed implementation of the encryption such as:</a:t>
            </a:r>
          </a:p>
          <a:p>
            <a:pPr lvl="2"/>
            <a:r>
              <a:t> Keys are too short</a:t>
            </a:r>
          </a:p>
          <a:p>
            <a:pPr lvl="2"/>
            <a:r>
              <a:t> Salts are not used in digests allowing the use of rainbow tables to reverse engineer passwords</a:t>
            </a:r>
          </a:p>
          <a:p>
            <a:pPr lvl="2"/>
            <a:r>
              <a:t> Using an encryption library that has not been fully vetted</a:t>
            </a:r>
          </a:p>
          <a:p>
            <a:pPr lvl="2"/>
            <a:r>
              <a:t> Using a home-grown encryption library that is not full tested</a:t>
            </a:r>
          </a:p>
          <a:p>
            <a:pPr lvl="1"/>
            <a:r>
              <a:t> Flawed application of an encryption application</a:t>
            </a:r>
          </a:p>
          <a:p>
            <a:pPr lvl="2"/>
            <a:r>
              <a:t> Failure to encrypt data when it should be</a:t>
            </a:r>
          </a:p>
          <a:p>
            <a:pPr lvl="2"/>
            <a:r>
              <a:t> Not encrypting some data that is accessible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Presentation Level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Presentation level security can be subverted at the application level</a:t>
            </a:r>
          </a:p>
          <a:p>
            <a:r>
              <a:t> Called a Man in the Browser (MiTB) attack</a:t>
            </a:r>
          </a:p>
          <a:p>
            <a:pPr lvl="1"/>
            <a:r>
              <a:t> Access is gained at the application level to steal or alter data before it become encrypted</a:t>
            </a:r>
          </a:p>
          <a:p>
            <a:r>
              <a:t> Often the result of human engineering</a:t>
            </a:r>
          </a:p>
          <a:p>
            <a:pPr lvl="1"/>
            <a:r>
              <a:t> Compromised user installs malware</a:t>
            </a:r>
          </a:p>
          <a:p>
            <a:pPr lvl="1"/>
            <a:r>
              <a:t> Or malware is installed from a phishing or other attack</a:t>
            </a:r>
          </a:p>
          <a:p>
            <a:r>
              <a:t> Can be mitigated to a degree by isolation</a:t>
            </a:r>
          </a:p>
          <a:p>
            <a:pPr lvl="1"/>
            <a:r>
              <a:t> Applications used for systems control do not have access to other applications</a:t>
            </a:r>
          </a:p>
          <a:p>
            <a:pPr lvl="1"/>
            <a:r>
              <a:t> No public access to the user control apps</a:t>
            </a:r>
          </a:p>
          <a:p>
            <a:pPr lvl="1"/>
            <a:r>
              <a:t> Only the absolute minimum network access to private networks</a:t>
            </a:r>
          </a:p>
          <a:p>
            <a:r>
              <a:t> Ideally, control systems only connect to the system they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Man in the Browser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/>
          <a:p/>
          <a:p/>
          <a:p/>
          <a:p/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  <p:pic>
        <p:nvPicPr>
          <p:cNvPr id="5" name="Picture 4" descr="Man-in-the-Browser-Secret-Double-Octopus-1200x68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920240"/>
            <a:ext cx="8741664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Level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The main attacks at this level deal with interfering with sessions or some sort of session hijack</a:t>
            </a:r>
          </a:p>
          <a:p>
            <a:r>
              <a:t> Man in the Middle (MiTD) attacks occur when an adversary can intercept communications between two parties in a session</a:t>
            </a:r>
          </a:p>
          <a:p>
            <a:r>
              <a:t> A main risk is that an adversary could take over an automated system by hijacking a session between the system and an operator</a:t>
            </a:r>
          </a:p>
          <a:p>
            <a:r>
              <a:t> Some potential exploits</a:t>
            </a:r>
          </a:p>
          <a:p>
            <a:pPr lvl="1"/>
            <a:r>
              <a:t> Failure to use regular confirmation of identity of participant</a:t>
            </a:r>
          </a:p>
          <a:p>
            <a:pPr lvl="2"/>
            <a:r>
              <a:t> Ignoring warning about expired TSL certificate for example</a:t>
            </a:r>
          </a:p>
          <a:p>
            <a:pPr lvl="1"/>
            <a:r>
              <a:t> Failure to rotate credentials during a session</a:t>
            </a:r>
          </a:p>
          <a:p>
            <a:pPr lvl="2"/>
            <a:r>
              <a:t> The longer a set of credentials is used, the more likely they are to be hacked</a:t>
            </a:r>
          </a:p>
          <a:p>
            <a:pPr lvl="1"/>
            <a:r>
              <a:t> Failure to securely transmit session information</a:t>
            </a:r>
          </a:p>
          <a:p>
            <a:pPr lvl="2"/>
            <a:r>
              <a:t> Often makes the session tokens or ids guessable by an adversary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Transport Level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Internet based attacks probe for open ports</a:t>
            </a:r>
          </a:p>
          <a:p>
            <a:pPr lvl="1"/>
            <a:r>
              <a:t> Can be used to inject malware</a:t>
            </a:r>
          </a:p>
          <a:p>
            <a:pPr lvl="1"/>
            <a:r>
              <a:t> Malware often opens other ports as a backdoor</a:t>
            </a:r>
          </a:p>
          <a:p>
            <a:r>
              <a:t> Mitigations involve</a:t>
            </a:r>
          </a:p>
          <a:p>
            <a:pPr lvl="1"/>
            <a:r>
              <a:t> Regular port scans</a:t>
            </a:r>
          </a:p>
          <a:p>
            <a:pPr lvl="1"/>
            <a:r>
              <a:t> Use of non-standard ports to confound probing for commonly used ports</a:t>
            </a:r>
          </a:p>
          <a:p>
            <a:pPr lvl="1"/>
            <a:r>
              <a:t> Firewalls to block access to most ports except those explicitly allowed on a whitelist</a:t>
            </a:r>
          </a:p>
          <a:p>
            <a:r>
              <a:t> Known or published IP addresses are potential targets</a:t>
            </a:r>
          </a:p>
          <a:p>
            <a:r>
              <a:t> Mitigations involve</a:t>
            </a:r>
          </a:p>
          <a:p>
            <a:pPr lvl="1"/>
            <a:r>
              <a:t> Use of an API gateway to map external IP addresses to internal addresses</a:t>
            </a:r>
          </a:p>
          <a:p>
            <a:pPr lvl="1"/>
            <a:r>
              <a:t> Use of filtering and firewalling on the gateway</a:t>
            </a:r>
          </a:p>
          <a:p>
            <a:pPr lvl="1"/>
            <a:r>
              <a:t> Establishment of a DNZ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Demilitarized Zone and Honey Pots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DMZs connect internal networks to the outside world</a:t>
            </a:r>
          </a:p>
          <a:p>
            <a:pPr lvl="1"/>
            <a:r>
              <a:t> Internal networks cannot be accessed directly</a:t>
            </a:r>
          </a:p>
          <a:p>
            <a:pPr lvl="1"/>
            <a:r>
              <a:t> Must go through the DMZ</a:t>
            </a:r>
          </a:p>
          <a:p>
            <a:pPr lvl="1"/>
            <a:r>
              <a:t> Including standard application-level attacks</a:t>
            </a:r>
          </a:p>
          <a:p>
            <a:r>
              <a:t> Honeypots are fake networks</a:t>
            </a:r>
          </a:p>
          <a:p>
            <a:pPr lvl="1"/>
            <a:r>
              <a:t> Designed to distract attackers</a:t>
            </a:r>
          </a:p>
          <a:p>
            <a:pPr lvl="1"/>
            <a:r>
              <a:t> They wind up attacking the honeypot instead of the industrial system</a:t>
            </a:r>
          </a:p>
          <a:p/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  <p:pic>
        <p:nvPicPr>
          <p:cNvPr id="5" name="Picture 4" descr="security-honeypot_place_in_network-f_mob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1328" y="4407408"/>
            <a:ext cx="6409944" cy="3236976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Network Layer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Level at which most network hardware operates</a:t>
            </a:r>
          </a:p>
          <a:p>
            <a:pPr lvl="1"/>
            <a:r>
              <a:t> Switches, routers, firewalls, etc.</a:t>
            </a:r>
          </a:p>
          <a:p>
            <a:r>
              <a:t> Attacker can reroute traffic via a compromised router</a:t>
            </a:r>
          </a:p>
          <a:p>
            <a:pPr lvl="1"/>
            <a:r>
              <a:t> Many commercial routers have security flaws</a:t>
            </a:r>
          </a:p>
          <a:p>
            <a:r>
              <a:t> Malware insertion into network devices is a common attack</a:t>
            </a:r>
          </a:p>
          <a:p>
            <a:pPr lvl="1"/>
            <a:r>
              <a:t> Used by the NSA as part of their Tailored Access Operations (TAO)</a:t>
            </a:r>
          </a:p>
          <a:p>
            <a:pPr lvl="1"/>
            <a:r>
              <a:t> Network devices are physically intercepted during shipment</a:t>
            </a:r>
          </a:p>
          <a:p>
            <a:pPr lvl="1"/>
            <a:r>
              <a:t> Malware is installed to create backdoors</a:t>
            </a:r>
          </a:p>
          <a:p>
            <a:r>
              <a:t> Security analyses often overlook off the shelf hardware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ARP Spoofing Attack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/>
          <a:p/>
          <a:p/>
          <a:p/>
          <a:p/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  <p:pic>
        <p:nvPicPr>
          <p:cNvPr id="5" name="Picture 4" descr="arp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093976"/>
            <a:ext cx="8631936" cy="4718304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Network Layer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Mitigations involve</a:t>
            </a:r>
          </a:p>
          <a:p>
            <a:pPr lvl="1"/>
            <a:r>
              <a:t> Using NAT and other address translation strategies</a:t>
            </a:r>
          </a:p>
          <a:p>
            <a:pPr lvl="1"/>
            <a:r>
              <a:t> Physically secure network equipment</a:t>
            </a:r>
          </a:p>
          <a:p>
            <a:pPr lvl="1"/>
            <a:r>
              <a:t> Breeches at this layer commonly occur inside the organization</a:t>
            </a:r>
          </a:p>
          <a:p>
            <a:pPr lvl="1"/>
            <a:r>
              <a:t> The use of VPNs where possible</a:t>
            </a:r>
          </a:p>
          <a:p>
            <a:pPr lvl="1"/>
            <a:r>
              <a:t> However, this does add a layer of latency and complexity</a:t>
            </a:r>
          </a:p>
          <a:p>
            <a:pPr lvl="1"/>
            <a:r>
              <a:t> Full security audits of all network equipment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Link Layer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This layer works on the MAC address and packet layer</a:t>
            </a:r>
          </a:p>
          <a:p>
            <a:r>
              <a:t> Common attack is to force a Network Interface Controller (NIC) into promiscuous mode</a:t>
            </a:r>
          </a:p>
          <a:p>
            <a:pPr lvl="1"/>
            <a:r>
              <a:t> This allows it to absorb traffic intended for other machines</a:t>
            </a:r>
          </a:p>
          <a:p>
            <a:r>
              <a:t> This is also the layer where attackers may spoof a MAC address</a:t>
            </a:r>
          </a:p>
          <a:p>
            <a:r>
              <a:t> Mitigation</a:t>
            </a:r>
          </a:p>
          <a:p>
            <a:pPr lvl="1"/>
            <a:r>
              <a:t> A common mitigation is to create separate virtual LANS (VLANs) on a single physical LAN</a:t>
            </a:r>
          </a:p>
          <a:p>
            <a:pPr lvl="1"/>
            <a:r>
              <a:t> Access control lists can then be applied to the different VLANs</a:t>
            </a:r>
          </a:p>
          <a:p>
            <a:pPr lvl="1"/>
            <a:r>
              <a:t> Disabling unused ports also helps at this layer too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Physical Layer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Most common attack is compromised physical devices</a:t>
            </a:r>
          </a:p>
          <a:p>
            <a:pPr lvl="1"/>
            <a:r>
              <a:t> Access to the devices creates opportunities for insertion of malware or physical taps or attacks</a:t>
            </a:r>
          </a:p>
          <a:p>
            <a:r>
              <a:t> First line of defense</a:t>
            </a:r>
          </a:p>
          <a:p>
            <a:pPr lvl="1"/>
            <a:r>
              <a:t> Physically isolate and lock up all the equipment</a:t>
            </a:r>
          </a:p>
          <a:p>
            <a:pPr lvl="1"/>
            <a:r>
              <a:t> Allow access only to vetted people who need access</a:t>
            </a:r>
          </a:p>
          <a:p>
            <a:pPr lvl="1"/>
            <a:r>
              <a:t> Use the lowest level of access needed</a:t>
            </a:r>
          </a:p>
          <a:p>
            <a:r>
              <a:t> Social engineering attacks try to convince staff to allow access to bad actors</a:t>
            </a:r>
          </a:p>
          <a:p>
            <a:pPr lvl="1"/>
            <a:r>
              <a:t> Mitigation is to have strongly enforced security measures</a:t>
            </a:r>
          </a:p>
          <a:p>
            <a:pPr lvl="1"/>
            <a:r>
              <a:t> "We will not open the server room for anyone who claims to have lost their keycard."</a:t>
            </a:r>
          </a:p>
          <a:p>
            <a:r>
              <a:t> Physical interception is done by accessing cables and other devices – data taps for example</a:t>
            </a:r>
          </a:p>
          <a:p>
            <a:pPr lvl="1"/>
            <a:r>
              <a:t> Also done by monitoring EM signals from monitors and other devices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Physical Layer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Common vector to disable physical devices</a:t>
            </a:r>
          </a:p>
          <a:p>
            <a:pPr lvl="1"/>
            <a:r>
              <a:t> Power overloads</a:t>
            </a:r>
          </a:p>
          <a:p>
            <a:pPr lvl="1"/>
            <a:r>
              <a:t> EM pulses or physical damage</a:t>
            </a:r>
          </a:p>
          <a:p>
            <a:r>
              <a:t> Mitigations</a:t>
            </a:r>
          </a:p>
          <a:p>
            <a:pPr lvl="1"/>
            <a:r>
              <a:t> Any device, cable or other "thing" connected to the network is vulnerable</a:t>
            </a:r>
          </a:p>
          <a:p>
            <a:pPr lvl="1"/>
            <a:r>
              <a:t> Use proper shielding and physical isolation when necessary</a:t>
            </a:r>
          </a:p>
          <a:p>
            <a:pPr lvl="1"/>
            <a:r>
              <a:t> Have a good disaster recover plan for loss of physical assets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 sz="quarter"/>
          </p:nvPr>
        </p:nvSpPr>
        <p:spPr/>
        <p:txBody>
          <a:bodyPr/>
          <a:lstStyle/>
          <a:p>
            <a:pPr>
              <a:defRPr sz="3200"/>
            </a:pPr>
            <a:r>
              <a:t>The OSI Layers
</a:t>
            </a:r>
            <a:r>
              <a:t>Common Attacks by Layer
</a:t>
            </a:r>
            <a:r>
              <a:rPr b="1"/>
              <a:t>Defense in Depth
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 sz="quarter"/>
          </p:nvPr>
        </p:nvSpPr>
        <p:spPr/>
        <p:txBody>
          <a:bodyPr/>
          <a:lstStyle/>
          <a:p>
            <a:r>
              <a:t>Defense in Depth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Defense in Depth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Any IoT security solution must include a security model and plan for each of the OSI levels or their equivalent</a:t>
            </a:r>
          </a:p>
          <a:p>
            <a:r>
              <a:t> Any deployed system is as insecure as the security at its weakest level</a:t>
            </a:r>
          </a:p>
          <a:p/>
          <a:p/>
          <a:p/>
          <a:p/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  <p:pic>
        <p:nvPicPr>
          <p:cNvPr id="5" name="Picture 4" descr="OSIPyram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5376" y="2999232"/>
            <a:ext cx="5641848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OSI mitigations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/>
          <a:p/>
          <a:p/>
          <a:p/>
          <a:p/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  <p:pic>
        <p:nvPicPr>
          <p:cNvPr id="5" name="Picture 4" descr="osisecurity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6504" y="1600200"/>
            <a:ext cx="5879592" cy="5696712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Layer One Attacks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Traditional cybersecurity improvements push attackers toward alternative paths</a:t>
            </a:r>
          </a:p>
          <a:p>
            <a:pPr lvl="1"/>
            <a:r>
              <a:t> The physical layer has become a fertile ground for attacks</a:t>
            </a:r>
          </a:p>
          <a:p>
            <a:pPr lvl="1"/>
            <a:r>
              <a:t> Effectively, the soft underbelly of cybersecurity</a:t>
            </a:r>
          </a:p>
          <a:p>
            <a:r>
              <a:t> Can take the form of a compromised employee planting a device on the network</a:t>
            </a:r>
          </a:p>
          <a:p>
            <a:r>
              <a:t> Rogue and insecure hardware is often missed during security audits</a:t>
            </a:r>
          </a:p>
          <a:p>
            <a:pPr lvl="1"/>
            <a:r>
              <a:t> Legitimate hardware can be altered to provide insecure access</a:t>
            </a:r>
          </a:p>
          <a:p>
            <a:r>
              <a:t> Zero-trust network security causes attackers to look at physical access via hardware exploits</a:t>
            </a:r>
          </a:p>
          <a:p>
            <a:pPr lvl="1"/>
            <a:r>
              <a:t> Even air-gapping is not an effective solution</a:t>
            </a:r>
          </a:p>
          <a:p>
            <a:pPr lvl="1"/>
            <a:r>
              <a:t> For example, STUXNET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Hardware Security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Firmware can be updated with compromised versions</a:t>
            </a:r>
          </a:p>
          <a:p>
            <a:pPr lvl="1"/>
            <a:r>
              <a:t> Often overlooked in security testing</a:t>
            </a:r>
          </a:p>
          <a:p>
            <a:r>
              <a:t> Recommended mitigation</a:t>
            </a:r>
          </a:p>
          <a:p>
            <a:pPr lvl="1"/>
            <a:r>
              <a:t> automated security validation tools that can scan for configuration anomalies within their platform and evaluate security-sensitive bits within their firmware</a:t>
            </a:r>
          </a:p>
          <a:p>
            <a:r>
              <a:t> Hardware uses multiple components from different manufacturers, each using a different supply chain</a:t>
            </a:r>
          </a:p>
          <a:p>
            <a:pPr lvl="1"/>
            <a:r>
              <a:t> Security has to be enforced across the supply chain</a:t>
            </a:r>
          </a:p>
          <a:p>
            <a:r>
              <a:t> Problem made more urgent by the increased use of  systems on chips (SoCs)</a:t>
            </a:r>
          </a:p>
          <a:p>
            <a:pPr lvl="1"/>
            <a:r>
              <a:t> SoCs consolidate multiple traditional components on a single chip</a:t>
            </a:r>
          </a:p>
          <a:p>
            <a:pPr lvl="1"/>
            <a:r>
              <a:t> Bypasses the more traditional network security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Pc_New">
  <a:themeElements>
    <a:clrScheme name="LPc_New 7">
      <a:dk1>
        <a:srgbClr val="000000"/>
      </a:dk1>
      <a:lt1>
        <a:srgbClr val="FFFFFF"/>
      </a:lt1>
      <a:dk2>
        <a:srgbClr val="CCECFF"/>
      </a:dk2>
      <a:lt2>
        <a:srgbClr val="003399"/>
      </a:lt2>
      <a:accent1>
        <a:srgbClr val="0794FF"/>
      </a:accent1>
      <a:accent2>
        <a:srgbClr val="800080"/>
      </a:accent2>
      <a:accent3>
        <a:srgbClr val="E2F4FF"/>
      </a:accent3>
      <a:accent4>
        <a:srgbClr val="DADADA"/>
      </a:accent4>
      <a:accent5>
        <a:srgbClr val="AAC8FF"/>
      </a:accent5>
      <a:accent6>
        <a:srgbClr val="730073"/>
      </a:accent6>
      <a:hlink>
        <a:srgbClr val="FF0000"/>
      </a:hlink>
      <a:folHlink>
        <a:srgbClr val="FFFFD2"/>
      </a:folHlink>
    </a:clrScheme>
    <a:fontScheme name="LPc_New">
      <a:majorFont>
        <a:latin typeface="Verdan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lnDef>
  </a:objectDefaults>
  <a:extraClrSchemeLst>
    <a:extraClrScheme>
      <a:clrScheme name="LPc_New 1">
        <a:dk1>
          <a:srgbClr val="000099"/>
        </a:dk1>
        <a:lt1>
          <a:srgbClr val="FFFFFF"/>
        </a:lt1>
        <a:dk2>
          <a:srgbClr val="0000FF"/>
        </a:dk2>
        <a:lt2>
          <a:srgbClr val="FFFF00"/>
        </a:lt2>
        <a:accent1>
          <a:srgbClr val="FF6633"/>
        </a:accent1>
        <a:accent2>
          <a:srgbClr val="FF00FF"/>
        </a:accent2>
        <a:accent3>
          <a:srgbClr val="AAAAFF"/>
        </a:accent3>
        <a:accent4>
          <a:srgbClr val="DADADA"/>
        </a:accent4>
        <a:accent5>
          <a:srgbClr val="FFB8AD"/>
        </a:accent5>
        <a:accent6>
          <a:srgbClr val="E700E7"/>
        </a:accent6>
        <a:hlink>
          <a:srgbClr val="FF00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2">
        <a:dk1>
          <a:srgbClr val="000066"/>
        </a:dk1>
        <a:lt1>
          <a:srgbClr val="CCECFF"/>
        </a:lt1>
        <a:dk2>
          <a:srgbClr val="000080"/>
        </a:dk2>
        <a:lt2>
          <a:srgbClr val="00000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000056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B2B2B2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797979"/>
        </a:accent6>
        <a:hlink>
          <a:srgbClr val="5F5F5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4">
        <a:dk1>
          <a:srgbClr val="000000"/>
        </a:dk1>
        <a:lt1>
          <a:srgbClr val="FFFFFF"/>
        </a:lt1>
        <a:dk2>
          <a:srgbClr val="660033"/>
        </a:dk2>
        <a:lt2>
          <a:srgbClr val="FFFF66"/>
        </a:lt2>
        <a:accent1>
          <a:srgbClr val="FF0033"/>
        </a:accent1>
        <a:accent2>
          <a:srgbClr val="CC6600"/>
        </a:accent2>
        <a:accent3>
          <a:srgbClr val="B8AAAD"/>
        </a:accent3>
        <a:accent4>
          <a:srgbClr val="DADADA"/>
        </a:accent4>
        <a:accent5>
          <a:srgbClr val="FFAAAD"/>
        </a:accent5>
        <a:accent6>
          <a:srgbClr val="B95C00"/>
        </a:accent6>
        <a:hlink>
          <a:srgbClr val="999933"/>
        </a:hlink>
        <a:folHlink>
          <a:srgbClr val="A5002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5">
        <a:dk1>
          <a:srgbClr val="000000"/>
        </a:dk1>
        <a:lt1>
          <a:srgbClr val="FFFFFF"/>
        </a:lt1>
        <a:dk2>
          <a:srgbClr val="CCECFF"/>
        </a:dk2>
        <a:lt2>
          <a:srgbClr val="00008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6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9999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7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0794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AAC8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378292</TotalTime>
  <Words>0</Words>
  <Application>Microsoft Macintosh PowerPoint</Application>
  <PresentationFormat>Custom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9" baseType="lpstr">
      <vt:lpstr>ＭＳ Ｐゴシック</vt:lpstr>
      <vt:lpstr>Arial</vt:lpstr>
      <vt:lpstr>Arial Bold</vt:lpstr>
      <vt:lpstr>Garamond</vt:lpstr>
      <vt:lpstr>Monotype Sorts</vt:lpstr>
      <vt:lpstr>Times New Roman</vt:lpstr>
      <vt:lpstr>Verdana</vt:lpstr>
      <vt:lpstr>Wingdings</vt:lpstr>
      <vt:lpstr>LPc_New</vt:lpstr>
    </vt:vector>
  </TitlesOfParts>
  <Company>Elephant Scale LLC &amp; LearningPatterns Inc.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Spark</dc:title>
  <dc:subject>Spark</dc:subject>
  <dc:creator>Elephant Scale</dc:creator>
  <cp:lastModifiedBy>fateme</cp:lastModifiedBy>
  <cp:revision>4135</cp:revision>
  <cp:lastPrinted>2010-01-03T02:41:41Z</cp:lastPrinted>
  <dcterms:created xsi:type="dcterms:W3CDTF">2010-07-13T15:22:01Z</dcterms:created>
  <dcterms:modified xsi:type="dcterms:W3CDTF">2019-10-02T11:26:38Z</dcterms:modified>
</cp:coreProperties>
</file>